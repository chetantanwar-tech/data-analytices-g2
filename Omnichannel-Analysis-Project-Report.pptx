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etrona"/>
      <p:regular r:id="rId17"/>
    </p:embeddedFont>
    <p:embeddedFont>
      <p:font typeface="Petrona"/>
      <p:regular r:id="rId18"/>
    </p:embeddedFont>
    <p:embeddedFont>
      <p:font typeface="Petrona"/>
      <p:regular r:id="rId19"/>
    </p:embeddedFont>
    <p:embeddedFont>
      <p:font typeface="Petrona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slideLayout" Target="../slideLayouts/slideLayout6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10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20685"/>
            <a:ext cx="7556421" cy="1559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Omnichannel Analysis Project Report</a:t>
            </a:r>
            <a:endParaRPr lang="en-US" sz="4900" dirty="0"/>
          </a:p>
        </p:txBody>
      </p:sp>
      <p:sp>
        <p:nvSpPr>
          <p:cNvPr id="4" name="Text 1"/>
          <p:cNvSpPr/>
          <p:nvPr/>
        </p:nvSpPr>
        <p:spPr>
          <a:xfrm>
            <a:off x="6280190" y="4520089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Uncovering insights in retail sales performance, customer behavior, regional trends, and operational efficiency — powered by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82422"/>
            <a:ext cx="6237684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Objectives</a:t>
            </a:r>
            <a:endParaRPr lang="en-US" sz="4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515672"/>
            <a:ext cx="453628" cy="453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252787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Sales Performance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793790" y="377880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overall sales and top-performing categories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2515672"/>
            <a:ext cx="453628" cy="4536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3252787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Regional Distribution</a:t>
            </a:r>
            <a:endParaRPr lang="en-US" sz="2450" dirty="0"/>
          </a:p>
        </p:txBody>
      </p:sp>
      <p:sp>
        <p:nvSpPr>
          <p:cNvPr id="8" name="Text 4"/>
          <p:cNvSpPr/>
          <p:nvPr/>
        </p:nvSpPr>
        <p:spPr>
          <a:xfrm>
            <a:off x="5235893" y="377880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sales across geographic regions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2515672"/>
            <a:ext cx="453628" cy="4536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3252787"/>
            <a:ext cx="3457218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Segmentation</a:t>
            </a:r>
            <a:endParaRPr lang="en-US" sz="2450" dirty="0"/>
          </a:p>
        </p:txBody>
      </p:sp>
      <p:sp>
        <p:nvSpPr>
          <p:cNvPr id="11" name="Text 6"/>
          <p:cNvSpPr/>
          <p:nvPr/>
        </p:nvSpPr>
        <p:spPr>
          <a:xfrm>
            <a:off x="9677995" y="377880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who drives the most revenue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958239"/>
            <a:ext cx="453628" cy="45362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93790" y="5695355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Shipping Efficiency</a:t>
            </a:r>
            <a:endParaRPr lang="en-US" sz="2450" dirty="0"/>
          </a:p>
        </p:txBody>
      </p:sp>
      <p:sp>
        <p:nvSpPr>
          <p:cNvPr id="14" name="Text 8"/>
          <p:cNvSpPr/>
          <p:nvPr/>
        </p:nvSpPr>
        <p:spPr>
          <a:xfrm>
            <a:off x="793790" y="622137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 delivery performance across regions</a:t>
            </a:r>
            <a:endParaRPr lang="en-US" sz="1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5893" y="4958239"/>
            <a:ext cx="453628" cy="45362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35893" y="5695355"/>
            <a:ext cx="3185041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Interactive Dashboard</a:t>
            </a:r>
            <a:endParaRPr lang="en-US" sz="2450" dirty="0"/>
          </a:p>
        </p:txBody>
      </p:sp>
      <p:sp>
        <p:nvSpPr>
          <p:cNvPr id="17" name="Text 10"/>
          <p:cNvSpPr/>
          <p:nvPr/>
        </p:nvSpPr>
        <p:spPr>
          <a:xfrm>
            <a:off x="5235893" y="6221373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Visualize insights via Power BI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866656"/>
            <a:ext cx="6140291" cy="767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48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 Overview</a:t>
            </a:r>
            <a:endParaRPr lang="en-US" sz="4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407" y="2310765"/>
            <a:ext cx="8303300" cy="47051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6919" y="2183606"/>
            <a:ext cx="3513058" cy="383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Each Row Contains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636919" y="2787134"/>
            <a:ext cx="4219575" cy="2079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&amp; ship dates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segment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category &amp; sub-category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Region, state, city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per order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9636919" y="5113615"/>
            <a:ext cx="4219575" cy="2002155"/>
          </a:xfrm>
          <a:prstGeom prst="roundRect">
            <a:avLst>
              <a:gd name="adj" fmla="val 4684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0161" y="5448657"/>
            <a:ext cx="279083" cy="2232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362486" y="5389126"/>
            <a:ext cx="32707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Transaction-level granularity spanning multiple years — enabling sales, customer, product, and logistics analysis.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86545"/>
            <a:ext cx="6237684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 Variables</a:t>
            </a:r>
            <a:endParaRPr lang="en-US" sz="4900" dirty="0"/>
          </a:p>
        </p:txBody>
      </p:sp>
      <p:sp>
        <p:nvSpPr>
          <p:cNvPr id="3" name="Shape 1"/>
          <p:cNvSpPr/>
          <p:nvPr/>
        </p:nvSpPr>
        <p:spPr>
          <a:xfrm>
            <a:off x="793790" y="3119795"/>
            <a:ext cx="4196358" cy="2242185"/>
          </a:xfrm>
          <a:prstGeom prst="roundRect">
            <a:avLst>
              <a:gd name="adj" fmla="val 4249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354229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Categorical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1028224" y="3880247"/>
            <a:ext cx="3727490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&amp; Sub-category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Region, State, City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Segment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119795"/>
            <a:ext cx="4196358" cy="2242185"/>
          </a:xfrm>
          <a:prstGeom prst="roundRect">
            <a:avLst>
              <a:gd name="adj" fmla="val 4249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1396" y="3354229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Numerical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5451396" y="3880247"/>
            <a:ext cx="3727490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(revenue)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Shipping Days (derived)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119795"/>
            <a:ext cx="4196358" cy="2242185"/>
          </a:xfrm>
          <a:prstGeom prst="roundRect">
            <a:avLst>
              <a:gd name="adj" fmla="val 4249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4568" y="3354229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Date</a:t>
            </a:r>
            <a:endParaRPr lang="en-US" sz="2450" dirty="0"/>
          </a:p>
        </p:txBody>
      </p:sp>
      <p:sp>
        <p:nvSpPr>
          <p:cNvPr id="11" name="Text 9"/>
          <p:cNvSpPr/>
          <p:nvPr/>
        </p:nvSpPr>
        <p:spPr>
          <a:xfrm>
            <a:off x="9874568" y="3880247"/>
            <a:ext cx="3727490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Date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Date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61713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Together, these variables support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trend analysis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evaluation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segmentation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regional comparison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performance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assessment.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26250"/>
            <a:ext cx="10587871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Cleaning &amp; Feature Engineering</a:t>
            </a:r>
            <a:endParaRPr lang="en-US" sz="4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29" y="2801183"/>
            <a:ext cx="8187333" cy="3747016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80163" y="3736713"/>
            <a:ext cx="526399" cy="526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11174" y="5480741"/>
            <a:ext cx="1537087" cy="651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Engineer Features</a:t>
            </a:r>
            <a:endParaRPr lang="en-US" sz="20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3047" y="3737700"/>
            <a:ext cx="526400" cy="5264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174023" y="5480741"/>
            <a:ext cx="1537088" cy="651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Convert Dates</a:t>
            </a:r>
            <a:endParaRPr lang="en-US" sz="20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26424" y="3737700"/>
            <a:ext cx="526399" cy="5264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247400" y="5480741"/>
            <a:ext cx="1537087" cy="651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Handle &amp; Deduplicate</a:t>
            </a:r>
            <a:endParaRPr lang="en-US" sz="205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89273" y="3737700"/>
            <a:ext cx="526400" cy="5264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278665" y="5480741"/>
            <a:ext cx="1537087" cy="651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Load &amp; Standardize</a:t>
            </a:r>
            <a:endParaRPr lang="en-US" sz="2050" dirty="0"/>
          </a:p>
        </p:txBody>
      </p:sp>
      <p:sp>
        <p:nvSpPr>
          <p:cNvPr id="12" name="Text 5"/>
          <p:cNvSpPr/>
          <p:nvPr/>
        </p:nvSpPr>
        <p:spPr>
          <a:xfrm>
            <a:off x="9638943" y="2926199"/>
            <a:ext cx="3515201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Engineered Features</a:t>
            </a:r>
            <a:endParaRPr lang="en-US" sz="2450" dirty="0"/>
          </a:p>
        </p:txBody>
      </p:sp>
      <p:sp>
        <p:nvSpPr>
          <p:cNvPr id="13" name="Text 6"/>
          <p:cNvSpPr/>
          <p:nvPr/>
        </p:nvSpPr>
        <p:spPr>
          <a:xfrm>
            <a:off x="9638943" y="3542943"/>
            <a:ext cx="4205168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 &amp; Month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from order date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of Week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ordering patterns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Shipping Days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Ship Date − Order Date</a:t>
            </a:r>
            <a:endParaRPr lang="en-US" sz="1750" dirty="0"/>
          </a:p>
        </p:txBody>
      </p:sp>
      <p:sp>
        <p:nvSpPr>
          <p:cNvPr id="14" name="Text 7"/>
          <p:cNvSpPr/>
          <p:nvPr/>
        </p:nvSpPr>
        <p:spPr>
          <a:xfrm>
            <a:off x="9638943" y="5357217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steps ensured a clean, analysis-ready dataset with deeper time-based and operational insights.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59869"/>
            <a:ext cx="7406045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Exploratory Data Analysis</a:t>
            </a:r>
            <a:endParaRPr lang="en-US" sz="4900" dirty="0"/>
          </a:p>
        </p:txBody>
      </p:sp>
      <p:sp>
        <p:nvSpPr>
          <p:cNvPr id="4" name="Shape 1"/>
          <p:cNvSpPr/>
          <p:nvPr/>
        </p:nvSpPr>
        <p:spPr>
          <a:xfrm>
            <a:off x="6280190" y="1979652"/>
            <a:ext cx="7556421" cy="1766411"/>
          </a:xfrm>
          <a:prstGeom prst="roundRect">
            <a:avLst>
              <a:gd name="adj" fmla="val 8283"/>
            </a:avLst>
          </a:prstGeom>
          <a:solidFill>
            <a:srgbClr val="FDFAF7"/>
          </a:solidFill>
          <a:ln w="30480">
            <a:solidFill>
              <a:srgbClr val="C6BDD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49710" y="1979652"/>
            <a:ext cx="121920" cy="1766411"/>
          </a:xfrm>
          <a:prstGeom prst="roundRect">
            <a:avLst>
              <a:gd name="adj" fmla="val 78139"/>
            </a:avLst>
          </a:prstGeom>
          <a:solidFill>
            <a:srgbClr val="6237C8"/>
          </a:solidFill>
          <a:ln/>
        </p:spPr>
      </p:sp>
      <p:sp>
        <p:nvSpPr>
          <p:cNvPr id="6" name="Text 3"/>
          <p:cNvSpPr/>
          <p:nvPr/>
        </p:nvSpPr>
        <p:spPr>
          <a:xfrm>
            <a:off x="6628924" y="2236946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Category Analysis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6628924" y="2762964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Certain categories contributed significantly more revenue — strong demand concentration in specific product groups.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3972878"/>
            <a:ext cx="7556421" cy="1403509"/>
          </a:xfrm>
          <a:prstGeom prst="roundRect">
            <a:avLst>
              <a:gd name="adj" fmla="val 10424"/>
            </a:avLst>
          </a:prstGeom>
          <a:solidFill>
            <a:srgbClr val="FDFAF7"/>
          </a:solidFill>
          <a:ln w="30480">
            <a:solidFill>
              <a:srgbClr val="C6BDD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49710" y="3972878"/>
            <a:ext cx="121920" cy="1403509"/>
          </a:xfrm>
          <a:prstGeom prst="roundRect">
            <a:avLst>
              <a:gd name="adj" fmla="val 78139"/>
            </a:avLst>
          </a:prstGeom>
          <a:solidFill>
            <a:srgbClr val="6237C8"/>
          </a:solidFill>
          <a:ln/>
        </p:spPr>
      </p:sp>
      <p:sp>
        <p:nvSpPr>
          <p:cNvPr id="10" name="Text 7"/>
          <p:cNvSpPr/>
          <p:nvPr/>
        </p:nvSpPr>
        <p:spPr>
          <a:xfrm>
            <a:off x="6628924" y="4230172"/>
            <a:ext cx="3143250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Sub-category Analysis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6628924" y="4756190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few product groups drove the majority of revenue share.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603200"/>
            <a:ext cx="7556421" cy="1766411"/>
          </a:xfrm>
          <a:prstGeom prst="roundRect">
            <a:avLst>
              <a:gd name="adj" fmla="val 8283"/>
            </a:avLst>
          </a:prstGeom>
          <a:solidFill>
            <a:srgbClr val="FDFAF7"/>
          </a:solidFill>
          <a:ln w="30480">
            <a:solidFill>
              <a:srgbClr val="C6BDD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49710" y="5603200"/>
            <a:ext cx="121920" cy="1766411"/>
          </a:xfrm>
          <a:prstGeom prst="roundRect">
            <a:avLst>
              <a:gd name="adj" fmla="val 78139"/>
            </a:avLst>
          </a:prstGeom>
          <a:solidFill>
            <a:srgbClr val="6237C8"/>
          </a:solidFill>
          <a:ln/>
        </p:spPr>
      </p:sp>
      <p:sp>
        <p:nvSpPr>
          <p:cNvPr id="14" name="Text 11"/>
          <p:cNvSpPr/>
          <p:nvPr/>
        </p:nvSpPr>
        <p:spPr>
          <a:xfrm>
            <a:off x="6628924" y="5860494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Time-Based Trends</a:t>
            </a:r>
            <a:endParaRPr lang="en-US" sz="2450" dirty="0"/>
          </a:p>
        </p:txBody>
      </p:sp>
      <p:sp>
        <p:nvSpPr>
          <p:cNvPr id="15" name="Text 12"/>
          <p:cNvSpPr/>
          <p:nvPr/>
        </p:nvSpPr>
        <p:spPr>
          <a:xfrm>
            <a:off x="6628924" y="6386513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Seasonal fluctuations identified across months and years, revealing peak business periods.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26494"/>
            <a:ext cx="6859191" cy="621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&amp; Shipping Insights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183" y="1525667"/>
            <a:ext cx="6015395" cy="601539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183" y="1525667"/>
            <a:ext cx="6015395" cy="60153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43205" y="3056930"/>
            <a:ext cx="2485311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Segments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7543205" y="3511391"/>
            <a:ext cx="6015395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Consumer segment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the largest revenue contributor — individual customers are the primary sales driver.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7543205" y="4238030"/>
            <a:ext cx="6015395" cy="13454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7543205" y="4458533"/>
            <a:ext cx="2563416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Shipping Performance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7543205" y="4912995"/>
            <a:ext cx="6015395" cy="1190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shipping time: </a:t>
            </a:r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~4 days</a:t>
            </a:r>
            <a:endParaRPr lang="en-US" sz="14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East region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fastest delivery</a:t>
            </a:r>
            <a:endParaRPr lang="en-US" sz="14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 region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slightly higher shipping time</a:t>
            </a:r>
            <a:endParaRPr lang="en-US" sz="14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is otherwise consistent across regions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06535"/>
            <a:ext cx="6961346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SQL &amp; Power BI Analysis</a:t>
            </a:r>
            <a:endParaRPr lang="en-US" sz="4900" dirty="0"/>
          </a:p>
        </p:txBody>
      </p:sp>
      <p:sp>
        <p:nvSpPr>
          <p:cNvPr id="3" name="Text 1"/>
          <p:cNvSpPr/>
          <p:nvPr/>
        </p:nvSpPr>
        <p:spPr>
          <a:xfrm>
            <a:off x="793790" y="3153132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SQL Validation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793790" y="376987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operations used to confirm Python findings: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336852"/>
            <a:ext cx="6244709" cy="1704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Aggregation: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Grouping: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extraction: month, year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Ranking &amp; sorting by category/region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36168" y="2926318"/>
            <a:ext cx="6571417" cy="3496747"/>
          </a:xfrm>
          <a:prstGeom prst="roundRect">
            <a:avLst>
              <a:gd name="adj" fmla="val 4671"/>
            </a:avLst>
          </a:prstGeom>
          <a:solidFill>
            <a:srgbClr val="6237C8"/>
          </a:solidFill>
          <a:ln/>
        </p:spPr>
      </p:sp>
      <p:sp>
        <p:nvSpPr>
          <p:cNvPr id="7" name="Text 5"/>
          <p:cNvSpPr/>
          <p:nvPr/>
        </p:nvSpPr>
        <p:spPr>
          <a:xfrm>
            <a:off x="7662982" y="3153132"/>
            <a:ext cx="4168497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Power BI Dashboard Features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7662982" y="3769876"/>
            <a:ext cx="6117788" cy="2573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 cards: Total &amp; Average Sales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by Category &amp; Region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Sales Trend (line chart)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Segment distribution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Shipping performance by region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slicers: Region, Category, Year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56948" y="527209"/>
            <a:ext cx="6905625" cy="560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Insights &amp; Recommendations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6056948" y="1263372"/>
            <a:ext cx="8002905" cy="1521857"/>
          </a:xfrm>
          <a:prstGeom prst="roundRect">
            <a:avLst>
              <a:gd name="adj" fmla="val 4499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27564" y="1433989"/>
            <a:ext cx="488990" cy="488990"/>
          </a:xfrm>
          <a:prstGeom prst="roundRect">
            <a:avLst>
              <a:gd name="adj" fmla="val 18697899"/>
            </a:avLst>
          </a:prstGeom>
          <a:solidFill>
            <a:srgbClr val="6237C8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1986" y="1568410"/>
            <a:ext cx="220028" cy="2200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27564" y="2040136"/>
            <a:ext cx="2469594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Focus on Top Categories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227564" y="2390537"/>
            <a:ext cx="7661672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few categories drive most revenue — prioritize marketing and inventory here.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056948" y="2902387"/>
            <a:ext cx="8002905" cy="1521857"/>
          </a:xfrm>
          <a:prstGeom prst="roundRect">
            <a:avLst>
              <a:gd name="adj" fmla="val 4499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227564" y="3073003"/>
            <a:ext cx="488990" cy="488990"/>
          </a:xfrm>
          <a:prstGeom prst="roundRect">
            <a:avLst>
              <a:gd name="adj" fmla="val 18697899"/>
            </a:avLst>
          </a:prstGeom>
          <a:solidFill>
            <a:srgbClr val="6237C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1986" y="3207425"/>
            <a:ext cx="220028" cy="2200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27564" y="3679150"/>
            <a:ext cx="2241590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Regional Strategy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6227564" y="4029551"/>
            <a:ext cx="7661672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 sales in underperforming regions; optimize Central region logistics.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056948" y="4541401"/>
            <a:ext cx="8002905" cy="1521857"/>
          </a:xfrm>
          <a:prstGeom prst="roundRect">
            <a:avLst>
              <a:gd name="adj" fmla="val 4499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227564" y="4712018"/>
            <a:ext cx="488990" cy="488990"/>
          </a:xfrm>
          <a:prstGeom prst="roundRect">
            <a:avLst>
              <a:gd name="adj" fmla="val 18697899"/>
            </a:avLst>
          </a:prstGeom>
          <a:solidFill>
            <a:srgbClr val="6237C8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1986" y="4846439"/>
            <a:ext cx="220028" cy="2200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27564" y="5318165"/>
            <a:ext cx="2241590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Target Consumers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6227564" y="5668566"/>
            <a:ext cx="7661672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campaigns for the Consumer segment — the largest revenue driver.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056948" y="6180415"/>
            <a:ext cx="8002905" cy="1521857"/>
          </a:xfrm>
          <a:prstGeom prst="roundRect">
            <a:avLst>
              <a:gd name="adj" fmla="val 4499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227564" y="6351032"/>
            <a:ext cx="488990" cy="488990"/>
          </a:xfrm>
          <a:prstGeom prst="roundRect">
            <a:avLst>
              <a:gd name="adj" fmla="val 18697899"/>
            </a:avLst>
          </a:prstGeom>
          <a:solidFill>
            <a:srgbClr val="6237C8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61986" y="6485453"/>
            <a:ext cx="220028" cy="22002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227564" y="6957179"/>
            <a:ext cx="2241590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Seasonal Planning</a:t>
            </a:r>
            <a:endParaRPr lang="en-US" sz="1750" dirty="0"/>
          </a:p>
        </p:txBody>
      </p:sp>
      <p:sp>
        <p:nvSpPr>
          <p:cNvPr id="23" name="Text 16"/>
          <p:cNvSpPr/>
          <p:nvPr/>
        </p:nvSpPr>
        <p:spPr>
          <a:xfrm>
            <a:off x="6227564" y="7307580"/>
            <a:ext cx="7661672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 seasonal sales trends for promotional and inventory planning.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18617"/>
            <a:ext cx="6237684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</a:t>
            </a:r>
            <a:endParaRPr lang="en-US" sz="4900" dirty="0"/>
          </a:p>
        </p:txBody>
      </p:sp>
      <p:sp>
        <p:nvSpPr>
          <p:cNvPr id="3" name="Text 1"/>
          <p:cNvSpPr/>
          <p:nvPr/>
        </p:nvSpPr>
        <p:spPr>
          <a:xfrm>
            <a:off x="1133951" y="2807018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data analysis transforms raw transactions into actionable business intelligence.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551867"/>
            <a:ext cx="30480" cy="873204"/>
          </a:xfrm>
          <a:prstGeom prst="rect">
            <a:avLst/>
          </a:prstGeom>
          <a:solidFill>
            <a:srgbClr val="6237C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680222"/>
            <a:ext cx="4347567" cy="9072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4814292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Python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1020604" y="5340310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cleaning, EDA &amp; feature engineering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57" y="3680222"/>
            <a:ext cx="4347567" cy="9072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68171" y="4814292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SQL</a:t>
            </a:r>
            <a:endParaRPr lang="en-US" sz="2450" dirty="0"/>
          </a:p>
        </p:txBody>
      </p:sp>
      <p:sp>
        <p:nvSpPr>
          <p:cNvPr id="10" name="Text 6"/>
          <p:cNvSpPr/>
          <p:nvPr/>
        </p:nvSpPr>
        <p:spPr>
          <a:xfrm>
            <a:off x="5368171" y="5340310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Query-based validation of findings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924" y="3680222"/>
            <a:ext cx="4347567" cy="9072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715738" y="4814292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Power BI</a:t>
            </a:r>
            <a:endParaRPr lang="en-US" sz="2450" dirty="0"/>
          </a:p>
        </p:txBody>
      </p:sp>
      <p:sp>
        <p:nvSpPr>
          <p:cNvPr id="13" name="Text 8"/>
          <p:cNvSpPr/>
          <p:nvPr/>
        </p:nvSpPr>
        <p:spPr>
          <a:xfrm>
            <a:off x="9715738" y="5340310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dashboard for decision-making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793790" y="654808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Together, these tools help businesses </a:t>
            </a:r>
            <a:pPr algn="ct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 decisions</a:t>
            </a:r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ct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 operations</a:t>
            </a:r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pPr algn="ct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 overall performance</a:t>
            </a:r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2026-05-03T15:30:04Z</dcterms:created>
  <dcterms:modified xsi:type="dcterms:W3CDTF">2026-05-03T15:30:04Z</dcterms:modified>
</cp:coreProperties>
</file>